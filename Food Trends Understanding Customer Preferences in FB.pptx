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6" autoAdjust="0"/>
    <p:restoredTop sz="86432" autoAdjust="0"/>
  </p:normalViewPr>
  <p:slideViewPr>
    <p:cSldViewPr snapToGrid="0">
      <p:cViewPr varScale="1">
        <p:scale>
          <a:sx n="95" d="100"/>
          <a:sy n="95" d="100"/>
        </p:scale>
        <p:origin x="630" y="5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88" d="100"/>
        <a:sy n="188"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8AE5BD-5D80-4790-907E-6621CE84D15A}"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787FFA-5400-4AB7-8F9F-D6FFD30D8F1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19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AE5BD-5D80-4790-907E-6621CE84D15A}"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2611584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AE5BD-5D80-4790-907E-6621CE84D15A}"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787FFA-5400-4AB7-8F9F-D6FFD30D8F1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035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8AE5BD-5D80-4790-907E-6621CE84D15A}"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376592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AE5BD-5D80-4790-907E-6621CE84D15A}"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1348094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8AE5BD-5D80-4790-907E-6621CE84D15A}" type="datetimeFigureOut">
              <a:rPr lang="en-IN" smtClean="0"/>
              <a:t>05-03-2026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187436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78AE5BD-5D80-4790-907E-6621CE84D15A}" type="datetimeFigureOut">
              <a:rPr lang="en-IN" smtClean="0"/>
              <a:t>05-03-2026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1142580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78AE5BD-5D80-4790-907E-6621CE84D15A}" type="datetimeFigureOut">
              <a:rPr lang="en-IN" smtClean="0"/>
              <a:t>05-03-2026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787FFA-5400-4AB7-8F9F-D6FFD30D8F15}" type="slidenum">
              <a:rPr lang="en-IN" smtClean="0"/>
              <a:t>‹#›</a:t>
            </a:fld>
            <a:endParaRPr lang="en-IN"/>
          </a:p>
        </p:txBody>
      </p:sp>
    </p:spTree>
    <p:extLst>
      <p:ext uri="{BB962C8B-B14F-4D97-AF65-F5344CB8AC3E}">
        <p14:creationId xmlns:p14="http://schemas.microsoft.com/office/powerpoint/2010/main" val="2227474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8AE5BD-5D80-4790-907E-6621CE84D15A}"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1515593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AE5BD-5D80-4790-907E-6621CE84D15A}"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935205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AE5BD-5D80-4790-907E-6621CE84D15A}"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787FFA-5400-4AB7-8F9F-D6FFD30D8F15}" type="slidenum">
              <a:rPr lang="en-IN" smtClean="0"/>
              <a:t>‹#›</a:t>
            </a:fld>
            <a:endParaRPr lang="en-IN"/>
          </a:p>
        </p:txBody>
      </p:sp>
    </p:spTree>
    <p:extLst>
      <p:ext uri="{BB962C8B-B14F-4D97-AF65-F5344CB8AC3E}">
        <p14:creationId xmlns:p14="http://schemas.microsoft.com/office/powerpoint/2010/main" val="406182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78AE5BD-5D80-4790-907E-6621CE84D15A}" type="datetimeFigureOut">
              <a:rPr lang="en-IN" smtClean="0"/>
              <a:t>05-03-2026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787FFA-5400-4AB7-8F9F-D6FFD30D8F1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663966"/>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34651-4CF3-36D8-7F6B-7DA53D2EFA55}"/>
              </a:ext>
            </a:extLst>
          </p:cNvPr>
          <p:cNvSpPr>
            <a:spLocks noGrp="1"/>
          </p:cNvSpPr>
          <p:nvPr>
            <p:ph type="ctrTitle"/>
          </p:nvPr>
        </p:nvSpPr>
        <p:spPr>
          <a:xfrm>
            <a:off x="3625701" y="1722474"/>
            <a:ext cx="7534423" cy="2663257"/>
          </a:xfrm>
        </p:spPr>
        <p:txBody>
          <a:bodyPr>
            <a:normAutofit fontScale="90000"/>
          </a:bodyPr>
          <a:lstStyle/>
          <a:p>
            <a:r>
              <a:rPr lang="en-US" b="1" dirty="0"/>
              <a:t>Food Trends Understanding Customer Preferences in FB</a:t>
            </a:r>
            <a:endParaRPr lang="en-IN" dirty="0"/>
          </a:p>
        </p:txBody>
      </p:sp>
      <p:sp>
        <p:nvSpPr>
          <p:cNvPr id="3" name="Subtitle 2">
            <a:extLst>
              <a:ext uri="{FF2B5EF4-FFF2-40B4-BE49-F238E27FC236}">
                <a16:creationId xmlns:a16="http://schemas.microsoft.com/office/drawing/2014/main" id="{54295C6B-0810-E51C-1AFB-EBFE4BC34BD9}"/>
              </a:ext>
            </a:extLst>
          </p:cNvPr>
          <p:cNvSpPr>
            <a:spLocks noGrp="1"/>
          </p:cNvSpPr>
          <p:nvPr>
            <p:ph type="subTitle" idx="1"/>
          </p:nvPr>
        </p:nvSpPr>
        <p:spPr/>
        <p:txBody>
          <a:bodyPr/>
          <a:lstStyle/>
          <a:p>
            <a:r>
              <a:rPr lang="en-US" dirty="0"/>
              <a:t>Name: Krishna Kumar SHARMA</a:t>
            </a:r>
            <a:br>
              <a:rPr lang="en-US" dirty="0"/>
            </a:br>
            <a:r>
              <a:rPr lang="en-US" dirty="0"/>
              <a:t>Tool Used: Power BI</a:t>
            </a:r>
            <a:endParaRPr lang="en-IN" dirty="0"/>
          </a:p>
        </p:txBody>
      </p:sp>
    </p:spTree>
    <p:extLst>
      <p:ext uri="{BB962C8B-B14F-4D97-AF65-F5344CB8AC3E}">
        <p14:creationId xmlns:p14="http://schemas.microsoft.com/office/powerpoint/2010/main" val="233473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E837A-4DFE-45CF-6478-342B4CE929C1}"/>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95F759D-AC1E-18B1-EC3E-A8ABAA4D987E}"/>
              </a:ext>
            </a:extLst>
          </p:cNvPr>
          <p:cNvSpPr>
            <a:spLocks noGrp="1"/>
          </p:cNvSpPr>
          <p:nvPr>
            <p:ph idx="1"/>
          </p:nvPr>
        </p:nvSpPr>
        <p:spPr/>
        <p:txBody>
          <a:bodyPr/>
          <a:lstStyle/>
          <a:p>
            <a:r>
              <a:rPr lang="en-US" dirty="0"/>
              <a:t>In today’s competitive restaurant industry, understanding customer preferences and sales performance is essential for growth. Restaurants generate large volumes of data through orders, ratings, and customer feedback. However, raw data alone cannot provide meaningful insights without proper analysis. This project uses Microsoft Power BI to transform restaurant data into interactive dashboards and actionable insights. By analyzing food trends, customer sentiment, and product performance, we can identify best-selling products, measure customer satisfaction, and evaluate revenue drivers. The goal of this project is to support data-driven decision-making that enhances customer experience and improves overall business performance.</a:t>
            </a:r>
            <a:endParaRPr lang="en-IN" dirty="0"/>
          </a:p>
        </p:txBody>
      </p:sp>
    </p:spTree>
    <p:extLst>
      <p:ext uri="{BB962C8B-B14F-4D97-AF65-F5344CB8AC3E}">
        <p14:creationId xmlns:p14="http://schemas.microsoft.com/office/powerpoint/2010/main" val="1639857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5C43C-37E6-165A-DB1F-440B4C15CAD6}"/>
              </a:ext>
            </a:extLst>
          </p:cNvPr>
          <p:cNvSpPr>
            <a:spLocks noGrp="1"/>
          </p:cNvSpPr>
          <p:nvPr>
            <p:ph type="title"/>
          </p:nvPr>
        </p:nvSpPr>
        <p:spPr>
          <a:xfrm>
            <a:off x="1012219" y="223283"/>
            <a:ext cx="10058400" cy="1366283"/>
          </a:xfrm>
        </p:spPr>
        <p:txBody>
          <a:bodyPr>
            <a:noAutofit/>
          </a:bodyPr>
          <a:lstStyle/>
          <a:p>
            <a:pPr algn="ctr"/>
            <a:r>
              <a:rPr lang="en-IN" sz="8000" b="1" dirty="0">
                <a:latin typeface="ADLaM Display" panose="02010000000000000000" pitchFamily="2" charset="0"/>
                <a:ea typeface="ADLaM Display" panose="02010000000000000000" pitchFamily="2" charset="0"/>
                <a:cs typeface="ADLaM Display" panose="02010000000000000000" pitchFamily="2" charset="0"/>
              </a:rPr>
              <a:t>Dashboard</a:t>
            </a:r>
          </a:p>
        </p:txBody>
      </p:sp>
      <p:pic>
        <p:nvPicPr>
          <p:cNvPr id="5" name="Content Placeholder 4">
            <a:extLst>
              <a:ext uri="{FF2B5EF4-FFF2-40B4-BE49-F238E27FC236}">
                <a16:creationId xmlns:a16="http://schemas.microsoft.com/office/drawing/2014/main" id="{2E44FE67-6606-9259-9556-32FA2DAC9A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5274" y="1846263"/>
            <a:ext cx="9548038" cy="4442895"/>
          </a:xfrm>
          <a:prstGeom prst="rect">
            <a:avLst/>
          </a:prstGeom>
        </p:spPr>
      </p:pic>
    </p:spTree>
    <p:extLst>
      <p:ext uri="{BB962C8B-B14F-4D97-AF65-F5344CB8AC3E}">
        <p14:creationId xmlns:p14="http://schemas.microsoft.com/office/powerpoint/2010/main" val="2161196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C0D7-8BC6-ABB4-ED2F-536CA3B4496D}"/>
              </a:ext>
            </a:extLst>
          </p:cNvPr>
          <p:cNvSpPr>
            <a:spLocks noGrp="1"/>
          </p:cNvSpPr>
          <p:nvPr>
            <p:ph type="title"/>
          </p:nvPr>
        </p:nvSpPr>
        <p:spPr/>
        <p:txBody>
          <a:bodyPr>
            <a:normAutofit/>
          </a:bodyPr>
          <a:lstStyle/>
          <a:p>
            <a:r>
              <a:rPr lang="en-IN" sz="6000" dirty="0"/>
              <a:t>Project Objectives</a:t>
            </a:r>
          </a:p>
        </p:txBody>
      </p:sp>
      <p:sp>
        <p:nvSpPr>
          <p:cNvPr id="3" name="Content Placeholder 2">
            <a:extLst>
              <a:ext uri="{FF2B5EF4-FFF2-40B4-BE49-F238E27FC236}">
                <a16:creationId xmlns:a16="http://schemas.microsoft.com/office/drawing/2014/main" id="{583A381C-4D63-85DC-951B-876ED92C317A}"/>
              </a:ext>
            </a:extLst>
          </p:cNvPr>
          <p:cNvSpPr>
            <a:spLocks noGrp="1"/>
          </p:cNvSpPr>
          <p:nvPr>
            <p:ph idx="1"/>
          </p:nvPr>
        </p:nvSpPr>
        <p:spPr/>
        <p:txBody>
          <a:bodyPr/>
          <a:lstStyle/>
          <a:p>
            <a:r>
              <a:rPr lang="en-US" dirty="0"/>
              <a:t>The main objective of this project is to analyze restaurant data to gain meaningful business insights. This project focuses on understanding food trends and identifying customer preferences based on sales and rating patterns. It also aims to evaluate customer sentiment by analyzing positive, neutral, and negative feedback.</a:t>
            </a:r>
          </a:p>
          <a:p>
            <a:r>
              <a:rPr lang="en-US" dirty="0"/>
              <a:t>Additionally, the project measures key performance indicators such as total revenue, total sales, average rating, and top-selling products. By using interactive dashboards, the goal is to support data-driven decision-making, improve customer satisfaction, and enhance overall restaurant performance.</a:t>
            </a:r>
          </a:p>
          <a:p>
            <a:endParaRPr lang="en-IN" dirty="0"/>
          </a:p>
        </p:txBody>
      </p:sp>
    </p:spTree>
    <p:extLst>
      <p:ext uri="{BB962C8B-B14F-4D97-AF65-F5344CB8AC3E}">
        <p14:creationId xmlns:p14="http://schemas.microsoft.com/office/powerpoint/2010/main" val="3518864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1604-D660-4C78-4DA5-1AECD8413487}"/>
              </a:ext>
            </a:extLst>
          </p:cNvPr>
          <p:cNvSpPr>
            <a:spLocks noGrp="1"/>
          </p:cNvSpPr>
          <p:nvPr>
            <p:ph type="title"/>
          </p:nvPr>
        </p:nvSpPr>
        <p:spPr>
          <a:xfrm>
            <a:off x="1097280" y="63795"/>
            <a:ext cx="10058400" cy="1781939"/>
          </a:xfrm>
        </p:spPr>
        <p:txBody>
          <a:bodyPr>
            <a:normAutofit fontScale="90000"/>
          </a:bodyPr>
          <a:lstStyle/>
          <a:p>
            <a:r>
              <a:rPr lang="en-IN" dirty="0"/>
              <a:t>Dataset Overview</a:t>
            </a:r>
            <a:br>
              <a:rPr lang="en-IN" dirty="0"/>
            </a:br>
            <a:r>
              <a:rPr lang="en-US" sz="1600" dirty="0"/>
              <a:t>The dataset used in this project contains structured restaurant sales and customer feedback data. It includes important fields such as Order ID, Product Name, Quantity Sold, Unit Price, Revenue, Rating, Sentiment, Order Type, and Order Date.</a:t>
            </a:r>
            <a:br>
              <a:rPr lang="en-US" sz="1600" dirty="0"/>
            </a:br>
            <a:r>
              <a:rPr lang="en-US" sz="1600" dirty="0"/>
              <a:t>This data helps analyze product performance, customer satisfaction, and revenue trends. The structured format allows efficient data modeling, KPI calculation, and visualization in Power BI. By organizing and cleaning this dataset, meaningful business insights can be generated to support decision-making and performance improvement.</a:t>
            </a:r>
            <a:br>
              <a:rPr lang="en-US" sz="1600" dirty="0"/>
            </a:br>
            <a:endParaRPr lang="en-IN" sz="1600" dirty="0"/>
          </a:p>
        </p:txBody>
      </p:sp>
      <p:pic>
        <p:nvPicPr>
          <p:cNvPr id="6" name="Content Placeholder 5">
            <a:extLst>
              <a:ext uri="{FF2B5EF4-FFF2-40B4-BE49-F238E27FC236}">
                <a16:creationId xmlns:a16="http://schemas.microsoft.com/office/drawing/2014/main" id="{C5207E64-9356-2EB6-CBA3-B94BBDE2B44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96963" y="2163726"/>
            <a:ext cx="4938712" cy="3014763"/>
          </a:xfrm>
          <a:prstGeom prst="rect">
            <a:avLst/>
          </a:prstGeom>
        </p:spPr>
      </p:pic>
      <p:pic>
        <p:nvPicPr>
          <p:cNvPr id="8" name="Content Placeholder 7">
            <a:extLst>
              <a:ext uri="{FF2B5EF4-FFF2-40B4-BE49-F238E27FC236}">
                <a16:creationId xmlns:a16="http://schemas.microsoft.com/office/drawing/2014/main" id="{69515CDB-557F-54BD-A80B-81D14DC997A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18238" y="2163726"/>
            <a:ext cx="4937125" cy="3014763"/>
          </a:xfrm>
          <a:prstGeom prst="rect">
            <a:avLst/>
          </a:prstGeom>
        </p:spPr>
      </p:pic>
    </p:spTree>
    <p:extLst>
      <p:ext uri="{BB962C8B-B14F-4D97-AF65-F5344CB8AC3E}">
        <p14:creationId xmlns:p14="http://schemas.microsoft.com/office/powerpoint/2010/main" val="3790639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FD19C-A9C9-7204-4BA4-BA494D7BB5DE}"/>
              </a:ext>
            </a:extLst>
          </p:cNvPr>
          <p:cNvSpPr>
            <a:spLocks noGrp="1"/>
          </p:cNvSpPr>
          <p:nvPr>
            <p:ph type="title"/>
          </p:nvPr>
        </p:nvSpPr>
        <p:spPr/>
        <p:txBody>
          <a:bodyPr/>
          <a:lstStyle/>
          <a:p>
            <a:r>
              <a:rPr lang="en-US" dirty="0"/>
              <a:t>Food Trends: Understanding Customer Preferences</a:t>
            </a:r>
            <a:endParaRPr lang="en-IN" dirty="0"/>
          </a:p>
        </p:txBody>
      </p:sp>
      <p:sp>
        <p:nvSpPr>
          <p:cNvPr id="3" name="Content Placeholder 2">
            <a:extLst>
              <a:ext uri="{FF2B5EF4-FFF2-40B4-BE49-F238E27FC236}">
                <a16:creationId xmlns:a16="http://schemas.microsoft.com/office/drawing/2014/main" id="{09095481-0B65-D78F-0ECB-D675F396BA62}"/>
              </a:ext>
            </a:extLst>
          </p:cNvPr>
          <p:cNvSpPr>
            <a:spLocks noGrp="1"/>
          </p:cNvSpPr>
          <p:nvPr>
            <p:ph idx="1"/>
          </p:nvPr>
        </p:nvSpPr>
        <p:spPr/>
        <p:txBody>
          <a:bodyPr/>
          <a:lstStyle/>
          <a:p>
            <a:r>
              <a:rPr lang="en-US" dirty="0"/>
              <a:t>Food trends are identified by analyzing product-wise sales and customer ratings. By examining the quantity sold for each product, we can determine which menu items are most popular among customers. Revenue analysis further helps identify which products contribute the most to overall income.</a:t>
            </a:r>
          </a:p>
          <a:p>
            <a:r>
              <a:rPr lang="en-US" dirty="0"/>
              <a:t>This analysis reveals customer preferences and demand patterns. High-selling products indicate strong customer interest, while low-selling items may require improvement in pricing, quality, or promotion. Understanding these trends enables the restaurant to align its menu strategy with customer demand and increase profitability.</a:t>
            </a:r>
          </a:p>
          <a:p>
            <a:endParaRPr lang="en-IN" dirty="0"/>
          </a:p>
        </p:txBody>
      </p:sp>
      <p:pic>
        <p:nvPicPr>
          <p:cNvPr id="6" name="Picture 5">
            <a:extLst>
              <a:ext uri="{FF2B5EF4-FFF2-40B4-BE49-F238E27FC236}">
                <a16:creationId xmlns:a16="http://schemas.microsoft.com/office/drawing/2014/main" id="{23E3BE54-1783-4D6B-3682-23BFFF63F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8" y="3000507"/>
            <a:ext cx="3886200" cy="3263133"/>
          </a:xfrm>
          <a:prstGeom prst="rect">
            <a:avLst/>
          </a:prstGeom>
        </p:spPr>
      </p:pic>
    </p:spTree>
    <p:extLst>
      <p:ext uri="{BB962C8B-B14F-4D97-AF65-F5344CB8AC3E}">
        <p14:creationId xmlns:p14="http://schemas.microsoft.com/office/powerpoint/2010/main" val="3485840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53110-B46F-FC18-EAD9-395C3BF25056}"/>
              </a:ext>
            </a:extLst>
          </p:cNvPr>
          <p:cNvSpPr>
            <a:spLocks noGrp="1"/>
          </p:cNvSpPr>
          <p:nvPr>
            <p:ph type="title"/>
          </p:nvPr>
        </p:nvSpPr>
        <p:spPr/>
        <p:txBody>
          <a:bodyPr/>
          <a:lstStyle/>
          <a:p>
            <a:r>
              <a:rPr lang="en-US" dirty="0"/>
              <a:t>Food Trend Insights: Revenue Analysis</a:t>
            </a:r>
            <a:endParaRPr lang="en-IN" dirty="0"/>
          </a:p>
        </p:txBody>
      </p:sp>
      <p:sp>
        <p:nvSpPr>
          <p:cNvPr id="3" name="Content Placeholder 2">
            <a:extLst>
              <a:ext uri="{FF2B5EF4-FFF2-40B4-BE49-F238E27FC236}">
                <a16:creationId xmlns:a16="http://schemas.microsoft.com/office/drawing/2014/main" id="{9FE1AD57-43BA-BCC1-B22C-3938D5D3A61D}"/>
              </a:ext>
            </a:extLst>
          </p:cNvPr>
          <p:cNvSpPr>
            <a:spLocks noGrp="1"/>
          </p:cNvSpPr>
          <p:nvPr>
            <p:ph idx="1"/>
          </p:nvPr>
        </p:nvSpPr>
        <p:spPr/>
        <p:txBody>
          <a:bodyPr/>
          <a:lstStyle/>
          <a:p>
            <a:r>
              <a:rPr lang="en-US" dirty="0"/>
              <a:t>Revenue analysis helps identify which products generate the highest income for the restaurant. By examining revenue by product, we can determine which menu items are the most profitable. High-revenue products contribute significantly to overall business growth and should be promoted or maintained consistently.</a:t>
            </a:r>
          </a:p>
          <a:p>
            <a:r>
              <a:rPr lang="en-US" dirty="0"/>
              <a:t>If a product has high sales but low revenue, pricing strategies may need adjustment. Similarly, low-revenue products may require improvement in quality, marketing, or removal from the menu. This analysis supports strategic decision-making to maximize profitability and optimize product offerings</a:t>
            </a:r>
          </a:p>
          <a:p>
            <a:endParaRPr lang="en-IN" dirty="0"/>
          </a:p>
        </p:txBody>
      </p:sp>
      <p:pic>
        <p:nvPicPr>
          <p:cNvPr id="6" name="Picture 5">
            <a:extLst>
              <a:ext uri="{FF2B5EF4-FFF2-40B4-BE49-F238E27FC236}">
                <a16:creationId xmlns:a16="http://schemas.microsoft.com/office/drawing/2014/main" id="{648BB7D2-3DBC-5976-40F2-6CDC58D4E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90" y="3291840"/>
            <a:ext cx="3758430" cy="2971801"/>
          </a:xfrm>
          <a:prstGeom prst="rect">
            <a:avLst/>
          </a:prstGeom>
        </p:spPr>
      </p:pic>
    </p:spTree>
    <p:extLst>
      <p:ext uri="{BB962C8B-B14F-4D97-AF65-F5344CB8AC3E}">
        <p14:creationId xmlns:p14="http://schemas.microsoft.com/office/powerpoint/2010/main" val="2599185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023E-547A-DA56-1953-E209E458D4EF}"/>
              </a:ext>
            </a:extLst>
          </p:cNvPr>
          <p:cNvSpPr>
            <a:spLocks noGrp="1"/>
          </p:cNvSpPr>
          <p:nvPr>
            <p:ph type="ctrTitle"/>
          </p:nvPr>
        </p:nvSpPr>
        <p:spPr>
          <a:xfrm>
            <a:off x="1230187" y="308344"/>
            <a:ext cx="4681515" cy="967563"/>
          </a:xfrm>
        </p:spPr>
        <p:txBody>
          <a:bodyPr>
            <a:normAutofit fontScale="90000"/>
          </a:bodyPr>
          <a:lstStyle/>
          <a:p>
            <a:r>
              <a:rPr lang="en-IN" dirty="0"/>
              <a:t>KPI Analysis</a:t>
            </a:r>
          </a:p>
        </p:txBody>
      </p:sp>
      <p:pic>
        <p:nvPicPr>
          <p:cNvPr id="5" name="Picture 4">
            <a:extLst>
              <a:ext uri="{FF2B5EF4-FFF2-40B4-BE49-F238E27FC236}">
                <a16:creationId xmlns:a16="http://schemas.microsoft.com/office/drawing/2014/main" id="{F2E7A92C-707F-F009-B117-0528D4BB9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004" y="4492256"/>
            <a:ext cx="11052545" cy="1637414"/>
          </a:xfrm>
          <a:prstGeom prst="rect">
            <a:avLst/>
          </a:prstGeom>
        </p:spPr>
      </p:pic>
      <p:sp>
        <p:nvSpPr>
          <p:cNvPr id="7" name="TextBox 6">
            <a:extLst>
              <a:ext uri="{FF2B5EF4-FFF2-40B4-BE49-F238E27FC236}">
                <a16:creationId xmlns:a16="http://schemas.microsoft.com/office/drawing/2014/main" id="{D5A034BF-5ABB-46F5-E146-148615B677D3}"/>
              </a:ext>
            </a:extLst>
          </p:cNvPr>
          <p:cNvSpPr txBox="1"/>
          <p:nvPr/>
        </p:nvSpPr>
        <p:spPr>
          <a:xfrm>
            <a:off x="1144369" y="1497833"/>
            <a:ext cx="10259050" cy="2862322"/>
          </a:xfrm>
          <a:prstGeom prst="rect">
            <a:avLst/>
          </a:prstGeom>
          <a:noFill/>
        </p:spPr>
        <p:txBody>
          <a:bodyPr wrap="square" rtlCol="0">
            <a:spAutoFit/>
          </a:bodyPr>
          <a:lstStyle/>
          <a:p>
            <a:r>
              <a:rPr lang="en-US" dirty="0"/>
              <a:t>Key Performance Indicators (KPIs) are used to measure the overall performance of the restaurant. In this dashboard, four important KPIs are created: Total Revenue, Total Sales, Average Rating, and Top Selling Product.</a:t>
            </a:r>
          </a:p>
          <a:p>
            <a:r>
              <a:rPr lang="en-US" dirty="0"/>
              <a:t>Total Revenue shows the total income generated from all product sales. Total Sales represents the total quantity of items sold. Average Rating indicates the level of customer satisfaction based on customer feedback. The Top Selling Product identifies the most popular menu item among customers.</a:t>
            </a:r>
          </a:p>
          <a:p>
            <a:r>
              <a:rPr lang="en-US" dirty="0"/>
              <a:t>These KPIs provide a quick overview of business performance and help management make data-driven decisions to improve sales and customer satisfaction.</a:t>
            </a:r>
          </a:p>
          <a:p>
            <a:endParaRPr lang="en-IN" dirty="0"/>
          </a:p>
          <a:p>
            <a:endParaRPr lang="en-IN" dirty="0"/>
          </a:p>
        </p:txBody>
      </p:sp>
    </p:spTree>
    <p:extLst>
      <p:ext uri="{BB962C8B-B14F-4D97-AF65-F5344CB8AC3E}">
        <p14:creationId xmlns:p14="http://schemas.microsoft.com/office/powerpoint/2010/main" val="2661653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995E-E1D2-5F38-8C39-F603DE9D58DE}"/>
              </a:ext>
            </a:extLst>
          </p:cNvPr>
          <p:cNvSpPr>
            <a:spLocks noGrp="1"/>
          </p:cNvSpPr>
          <p:nvPr>
            <p:ph type="title"/>
          </p:nvPr>
        </p:nvSpPr>
        <p:spPr>
          <a:xfrm>
            <a:off x="457200" y="594359"/>
            <a:ext cx="3200400" cy="1202543"/>
          </a:xfrm>
        </p:spPr>
        <p:txBody>
          <a:bodyPr/>
          <a:lstStyle/>
          <a:p>
            <a:r>
              <a:rPr lang="en-IN" dirty="0"/>
              <a:t>Sentiment Insights</a:t>
            </a:r>
          </a:p>
        </p:txBody>
      </p:sp>
      <p:pic>
        <p:nvPicPr>
          <p:cNvPr id="6" name="Content Placeholder 5">
            <a:extLst>
              <a:ext uri="{FF2B5EF4-FFF2-40B4-BE49-F238E27FC236}">
                <a16:creationId xmlns:a16="http://schemas.microsoft.com/office/drawing/2014/main" id="{1EBB45E0-EC6E-71B5-2EAA-9AECCBE2C8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47707" y="962247"/>
            <a:ext cx="7853844" cy="4561367"/>
          </a:xfrm>
          <a:prstGeom prst="rect">
            <a:avLst/>
          </a:prstGeom>
        </p:spPr>
      </p:pic>
      <p:sp>
        <p:nvSpPr>
          <p:cNvPr id="4" name="Text Placeholder 3">
            <a:extLst>
              <a:ext uri="{FF2B5EF4-FFF2-40B4-BE49-F238E27FC236}">
                <a16:creationId xmlns:a16="http://schemas.microsoft.com/office/drawing/2014/main" id="{B305934B-469C-6672-72A6-C4F92957574B}"/>
              </a:ext>
            </a:extLst>
          </p:cNvPr>
          <p:cNvSpPr>
            <a:spLocks noGrp="1"/>
          </p:cNvSpPr>
          <p:nvPr>
            <p:ph type="body" sz="half" idx="2"/>
          </p:nvPr>
        </p:nvSpPr>
        <p:spPr>
          <a:xfrm>
            <a:off x="233916" y="2036135"/>
            <a:ext cx="3423684" cy="4269069"/>
          </a:xfrm>
        </p:spPr>
        <p:txBody>
          <a:bodyPr>
            <a:normAutofit lnSpcReduction="10000"/>
          </a:bodyPr>
          <a:lstStyle/>
          <a:p>
            <a:r>
              <a:rPr lang="en-US" dirty="0"/>
              <a:t>Sentiment insights help analyze customer opinions and satisfaction levels based on their feedback. In this dashboard, customer reviews are categorized into three types: Positive, Neutral, and Negative. This classification helps understand how customers feel about the restaurant’s products and services.</a:t>
            </a:r>
          </a:p>
          <a:p>
            <a:r>
              <a:rPr lang="en-US" dirty="0"/>
              <a:t>By examining the sentiment distribution, we can identify the percentage of satisfied and dissatisfied customers. A higher number of positive reviews indicates strong customer satisfaction, while negative reviews highlight areas that require improvement such as food quality, service, or pricing.</a:t>
            </a:r>
          </a:p>
          <a:p>
            <a:r>
              <a:rPr lang="en-US" dirty="0"/>
              <a:t>These insights help the restaurant improve customer experience and maintain better service quality.</a:t>
            </a:r>
          </a:p>
          <a:p>
            <a:endParaRPr lang="en-IN" dirty="0"/>
          </a:p>
        </p:txBody>
      </p:sp>
    </p:spTree>
    <p:extLst>
      <p:ext uri="{BB962C8B-B14F-4D97-AF65-F5344CB8AC3E}">
        <p14:creationId xmlns:p14="http://schemas.microsoft.com/office/powerpoint/2010/main" val="113438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51147-B15E-D268-34E2-A44DA27B2CC2}"/>
              </a:ext>
            </a:extLst>
          </p:cNvPr>
          <p:cNvSpPr>
            <a:spLocks noGrp="1"/>
          </p:cNvSpPr>
          <p:nvPr>
            <p:ph type="title"/>
          </p:nvPr>
        </p:nvSpPr>
        <p:spPr>
          <a:xfrm>
            <a:off x="71238" y="4149887"/>
            <a:ext cx="10113645" cy="549703"/>
          </a:xfrm>
        </p:spPr>
        <p:txBody>
          <a:bodyPr/>
          <a:lstStyle/>
          <a:p>
            <a:r>
              <a:rPr lang="en-IN" dirty="0"/>
              <a:t>Restaurant Product Insight Dashboard</a:t>
            </a:r>
          </a:p>
        </p:txBody>
      </p:sp>
      <p:pic>
        <p:nvPicPr>
          <p:cNvPr id="6" name="Picture Placeholder 5">
            <a:extLst>
              <a:ext uri="{FF2B5EF4-FFF2-40B4-BE49-F238E27FC236}">
                <a16:creationId xmlns:a16="http://schemas.microsoft.com/office/drawing/2014/main" id="{5100B299-8DB0-9F58-6CDF-45ECD327235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6589" b="16589"/>
          <a:stretch>
            <a:fillRect/>
          </a:stretch>
        </p:blipFill>
        <p:spPr>
          <a:xfrm>
            <a:off x="0" y="0"/>
            <a:ext cx="12192000" cy="3918098"/>
          </a:xfrm>
          <a:prstGeom prst="rect">
            <a:avLst/>
          </a:prstGeom>
          <a:solidFill>
            <a:srgbClr val="373545">
              <a:lumMod val="90000"/>
            </a:srgbClr>
          </a:solidFill>
        </p:spPr>
      </p:pic>
      <p:sp>
        <p:nvSpPr>
          <p:cNvPr id="4" name="Text Placeholder 3">
            <a:extLst>
              <a:ext uri="{FF2B5EF4-FFF2-40B4-BE49-F238E27FC236}">
                <a16:creationId xmlns:a16="http://schemas.microsoft.com/office/drawing/2014/main" id="{6A0BBFC0-F878-6E3C-7C20-C8D2186EE215}"/>
              </a:ext>
            </a:extLst>
          </p:cNvPr>
          <p:cNvSpPr>
            <a:spLocks noGrp="1"/>
          </p:cNvSpPr>
          <p:nvPr>
            <p:ph type="body" sz="half" idx="2"/>
          </p:nvPr>
        </p:nvSpPr>
        <p:spPr>
          <a:xfrm>
            <a:off x="108452" y="5007935"/>
            <a:ext cx="11959500" cy="1674627"/>
          </a:xfrm>
        </p:spPr>
        <p:txBody>
          <a:bodyPr/>
          <a:lstStyle/>
          <a:p>
            <a:r>
              <a:rPr lang="en-US" dirty="0"/>
              <a:t>The Restaurant Product Insight Dashboard helps analyze the performance of different menu items. It provides valuable insights into product sales, revenue generation, and customer ratings. By examining product-wise performance, the dashboard helps identify which menu items are most popular and which contribute the most to overall revenue.</a:t>
            </a:r>
          </a:p>
          <a:p>
            <a:r>
              <a:rPr lang="en-US" dirty="0"/>
              <a:t>This analysis enables restaurant management to understand customer demand and adjust product strategies accordingly. High-performing products can be promoted to increase profitability, while low-performing items may require improvements in quality, pricing, or marketing.</a:t>
            </a:r>
          </a:p>
          <a:p>
            <a:endParaRPr lang="en-IN" dirty="0"/>
          </a:p>
        </p:txBody>
      </p:sp>
    </p:spTree>
    <p:extLst>
      <p:ext uri="{BB962C8B-B14F-4D97-AF65-F5344CB8AC3E}">
        <p14:creationId xmlns:p14="http://schemas.microsoft.com/office/powerpoint/2010/main" val="62029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39E2A-AAB2-7A81-BA7D-7A2927D1DDC1}"/>
              </a:ext>
            </a:extLst>
          </p:cNvPr>
          <p:cNvSpPr>
            <a:spLocks noGrp="1"/>
          </p:cNvSpPr>
          <p:nvPr>
            <p:ph type="title"/>
          </p:nvPr>
        </p:nvSpPr>
        <p:spPr>
          <a:xfrm>
            <a:off x="457199" y="594359"/>
            <a:ext cx="3226981" cy="1346083"/>
          </a:xfrm>
        </p:spPr>
        <p:txBody>
          <a:bodyPr/>
          <a:lstStyle/>
          <a:p>
            <a:r>
              <a:rPr lang="en-IN" dirty="0"/>
              <a:t>Revenue Analysis</a:t>
            </a:r>
          </a:p>
        </p:txBody>
      </p:sp>
      <p:sp>
        <p:nvSpPr>
          <p:cNvPr id="3" name="Content Placeholder 2">
            <a:extLst>
              <a:ext uri="{FF2B5EF4-FFF2-40B4-BE49-F238E27FC236}">
                <a16:creationId xmlns:a16="http://schemas.microsoft.com/office/drawing/2014/main" id="{944FE477-5ACA-8B0B-5102-0DC28447A807}"/>
              </a:ext>
            </a:extLst>
          </p:cNvPr>
          <p:cNvSpPr>
            <a:spLocks noGrp="1"/>
          </p:cNvSpPr>
          <p:nvPr>
            <p:ph idx="1"/>
          </p:nvPr>
        </p:nvSpPr>
        <p:spPr>
          <a:xfrm>
            <a:off x="4614530" y="356190"/>
            <a:ext cx="6492240" cy="5257800"/>
          </a:xfrm>
        </p:spPr>
        <p:txBody>
          <a:bodyPr/>
          <a:lstStyle/>
          <a:p>
            <a:r>
              <a:rPr lang="en-US" dirty="0"/>
              <a:t>Revenue analysis helps understand which products contribute the most to the restaurant’s total income. By analyzing revenue generated by each product, we can identify high-performing items that drive business growth. Products with higher revenue indicate strong customer demand and profitability.</a:t>
            </a:r>
          </a:p>
          <a:p>
            <a:r>
              <a:rPr lang="en-US" dirty="0"/>
              <a:t>This analysis helps management focus on promoting profitable menu items and optimizing pricing strategies. It also highlights products that generate lower revenue, which may require improvements in quality, marketing, or pricing. Overall, revenue analysis supports better business decisions and helps increase overall restaurant profitability.</a:t>
            </a:r>
          </a:p>
          <a:p>
            <a:endParaRPr lang="en-IN" dirty="0"/>
          </a:p>
        </p:txBody>
      </p:sp>
      <p:pic>
        <p:nvPicPr>
          <p:cNvPr id="6" name="Picture 5">
            <a:extLst>
              <a:ext uri="{FF2B5EF4-FFF2-40B4-BE49-F238E27FC236}">
                <a16:creationId xmlns:a16="http://schemas.microsoft.com/office/drawing/2014/main" id="{7DC0CB64-3FCD-D3E0-50EF-05E90AE29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1699" y="4492256"/>
            <a:ext cx="7168422" cy="2243469"/>
          </a:xfrm>
          <a:prstGeom prst="rect">
            <a:avLst/>
          </a:prstGeom>
        </p:spPr>
      </p:pic>
      <p:pic>
        <p:nvPicPr>
          <p:cNvPr id="8" name="Picture 7">
            <a:extLst>
              <a:ext uri="{FF2B5EF4-FFF2-40B4-BE49-F238E27FC236}">
                <a16:creationId xmlns:a16="http://schemas.microsoft.com/office/drawing/2014/main" id="{E1CCDD6F-450B-85A0-D449-279FE23C4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893" y="3934046"/>
            <a:ext cx="3697370" cy="1600199"/>
          </a:xfrm>
          <a:prstGeom prst="rect">
            <a:avLst/>
          </a:prstGeom>
        </p:spPr>
      </p:pic>
    </p:spTree>
    <p:extLst>
      <p:ext uri="{BB962C8B-B14F-4D97-AF65-F5344CB8AC3E}">
        <p14:creationId xmlns:p14="http://schemas.microsoft.com/office/powerpoint/2010/main" val="2159922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7F8B-5A33-C1A4-1CEF-71E21EFE62D5}"/>
              </a:ext>
            </a:extLst>
          </p:cNvPr>
          <p:cNvSpPr>
            <a:spLocks noGrp="1"/>
          </p:cNvSpPr>
          <p:nvPr>
            <p:ph type="title"/>
          </p:nvPr>
        </p:nvSpPr>
        <p:spPr>
          <a:xfrm>
            <a:off x="457200" y="281763"/>
            <a:ext cx="3200400" cy="717697"/>
          </a:xfrm>
        </p:spPr>
        <p:txBody>
          <a:bodyPr/>
          <a:lstStyle/>
          <a:p>
            <a:r>
              <a:rPr lang="en-IN" dirty="0"/>
              <a:t>Interactive Slicer</a:t>
            </a:r>
          </a:p>
        </p:txBody>
      </p:sp>
      <p:sp>
        <p:nvSpPr>
          <p:cNvPr id="3" name="Content Placeholder 2">
            <a:extLst>
              <a:ext uri="{FF2B5EF4-FFF2-40B4-BE49-F238E27FC236}">
                <a16:creationId xmlns:a16="http://schemas.microsoft.com/office/drawing/2014/main" id="{411D4F4E-3D7E-8262-74BA-D99BFC389CDA}"/>
              </a:ext>
            </a:extLst>
          </p:cNvPr>
          <p:cNvSpPr>
            <a:spLocks noGrp="1"/>
          </p:cNvSpPr>
          <p:nvPr>
            <p:ph idx="1"/>
          </p:nvPr>
        </p:nvSpPr>
        <p:spPr/>
        <p:txBody>
          <a:bodyPr/>
          <a:lstStyle/>
          <a:p>
            <a:r>
              <a:rPr lang="en-US" dirty="0"/>
              <a:t>Interactive slicers are used to filter and analyze data dynamically within the dashboard. In this project, slicers are added for Product Name and Quarter. These slicers allow users to select specific products or time periods and instantly update all visuals on the dashboard.</a:t>
            </a:r>
          </a:p>
          <a:p>
            <a:r>
              <a:rPr lang="en-US" dirty="0"/>
              <a:t>This feature helps users focus on particular data segments and perform detailed analysis. For example, selecting a specific product will display its sales, revenue, and rating information across all charts. Interactive slicers improve dashboard usability and make the analysis more flexible and user-friendly.</a:t>
            </a:r>
          </a:p>
          <a:p>
            <a:endParaRPr lang="en-IN" dirty="0"/>
          </a:p>
        </p:txBody>
      </p:sp>
      <p:pic>
        <p:nvPicPr>
          <p:cNvPr id="6" name="Picture 5">
            <a:extLst>
              <a:ext uri="{FF2B5EF4-FFF2-40B4-BE49-F238E27FC236}">
                <a16:creationId xmlns:a16="http://schemas.microsoft.com/office/drawing/2014/main" id="{5D99DBEF-D112-582E-7EC4-29AC2308DE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927" y="1366283"/>
            <a:ext cx="3548945" cy="5257800"/>
          </a:xfrm>
          <a:prstGeom prst="rect">
            <a:avLst/>
          </a:prstGeom>
        </p:spPr>
      </p:pic>
    </p:spTree>
    <p:extLst>
      <p:ext uri="{BB962C8B-B14F-4D97-AF65-F5344CB8AC3E}">
        <p14:creationId xmlns:p14="http://schemas.microsoft.com/office/powerpoint/2010/main" val="3845433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EBC5C-9D7E-D0CA-8360-5640DCCF25C6}"/>
              </a:ext>
            </a:extLst>
          </p:cNvPr>
          <p:cNvSpPr>
            <a:spLocks noGrp="1"/>
          </p:cNvSpPr>
          <p:nvPr>
            <p:ph type="title"/>
          </p:nvPr>
        </p:nvSpPr>
        <p:spPr>
          <a:xfrm>
            <a:off x="1097280" y="286604"/>
            <a:ext cx="10058400" cy="1095630"/>
          </a:xfrm>
        </p:spPr>
        <p:txBody>
          <a:bodyPr/>
          <a:lstStyle/>
          <a:p>
            <a:r>
              <a:rPr lang="en-IN" dirty="0"/>
              <a:t>Conclusion</a:t>
            </a:r>
          </a:p>
        </p:txBody>
      </p:sp>
      <p:sp>
        <p:nvSpPr>
          <p:cNvPr id="3" name="Content Placeholder 2">
            <a:extLst>
              <a:ext uri="{FF2B5EF4-FFF2-40B4-BE49-F238E27FC236}">
                <a16:creationId xmlns:a16="http://schemas.microsoft.com/office/drawing/2014/main" id="{99215C6A-4AF8-97D1-338C-051632B4B5AA}"/>
              </a:ext>
            </a:extLst>
          </p:cNvPr>
          <p:cNvSpPr>
            <a:spLocks noGrp="1"/>
          </p:cNvSpPr>
          <p:nvPr>
            <p:ph sz="half" idx="1"/>
          </p:nvPr>
        </p:nvSpPr>
        <p:spPr>
          <a:xfrm>
            <a:off x="1097278" y="1845734"/>
            <a:ext cx="10593220" cy="4023360"/>
          </a:xfrm>
        </p:spPr>
        <p:txBody>
          <a:bodyPr>
            <a:normAutofit/>
          </a:bodyPr>
          <a:lstStyle/>
          <a:p>
            <a:r>
              <a:rPr lang="en-US" dirty="0"/>
              <a:t>In conclusion, this project demonstrates how data analytics can help restaurants gain valuable insights from sales and customer feedback data. By using Power BI dashboards, we analyzed food trends, customer sentiment, and product performance. The use of KPIs, charts, and slicers helped transform raw data into clear and interactive visual insights.</a:t>
            </a:r>
          </a:p>
          <a:p>
            <a:r>
              <a:rPr lang="en-US" dirty="0"/>
              <a:t>This analysis helps identify top-selling products, understand customer preferences, and evaluate overall business performance. With these insights, restaurant management can make better data-driven decisions, improve customer satisfaction, and increase revenue. Overall, this project highlights the importance of data-driven strategies in improving restaurant operations and business growth.</a:t>
            </a:r>
          </a:p>
          <a:p>
            <a:endParaRPr lang="en-IN" dirty="0"/>
          </a:p>
        </p:txBody>
      </p:sp>
    </p:spTree>
    <p:extLst>
      <p:ext uri="{BB962C8B-B14F-4D97-AF65-F5344CB8AC3E}">
        <p14:creationId xmlns:p14="http://schemas.microsoft.com/office/powerpoint/2010/main" val="1526916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9E75C-6351-7666-2657-77825ECE63C5}"/>
              </a:ext>
            </a:extLst>
          </p:cNvPr>
          <p:cNvSpPr>
            <a:spLocks noGrp="1"/>
          </p:cNvSpPr>
          <p:nvPr>
            <p:ph type="title"/>
          </p:nvPr>
        </p:nvSpPr>
        <p:spPr/>
        <p:txBody>
          <a:bodyPr/>
          <a:lstStyle/>
          <a:p>
            <a:r>
              <a:rPr lang="en-IN" dirty="0"/>
              <a:t>Thank You &amp; Questions</a:t>
            </a:r>
          </a:p>
        </p:txBody>
      </p:sp>
      <p:sp>
        <p:nvSpPr>
          <p:cNvPr id="3" name="TextBox 2">
            <a:extLst>
              <a:ext uri="{FF2B5EF4-FFF2-40B4-BE49-F238E27FC236}">
                <a16:creationId xmlns:a16="http://schemas.microsoft.com/office/drawing/2014/main" id="{15C91F0B-98DF-A9A0-2A57-26458F5D4E89}"/>
              </a:ext>
            </a:extLst>
          </p:cNvPr>
          <p:cNvSpPr txBox="1"/>
          <p:nvPr/>
        </p:nvSpPr>
        <p:spPr>
          <a:xfrm>
            <a:off x="1097280" y="1880818"/>
            <a:ext cx="10058400" cy="3693319"/>
          </a:xfrm>
          <a:prstGeom prst="rect">
            <a:avLst/>
          </a:prstGeom>
          <a:noFill/>
        </p:spPr>
        <p:txBody>
          <a:bodyPr wrap="square" rtlCol="0">
            <a:spAutoFit/>
          </a:bodyPr>
          <a:lstStyle/>
          <a:p>
            <a:r>
              <a:rPr lang="en-US" dirty="0"/>
              <a:t>Thank you for your time and attention.</a:t>
            </a:r>
            <a:br>
              <a:rPr lang="en-US" dirty="0"/>
            </a:br>
            <a:r>
              <a:rPr lang="en-US" dirty="0"/>
              <a:t>This presentation demonstrated how data analytics and Power BI dashboards can help understand food trends, analyze customer sentiment, and evaluate product performance in a restaurant.</a:t>
            </a:r>
          </a:p>
          <a:p>
            <a:r>
              <a:rPr lang="en-US" dirty="0"/>
              <a:t>By using KPIs, charts, and slicers, the dashboards transform raw data into meaningful insights that support better decision-making and business growth.</a:t>
            </a:r>
          </a:p>
          <a:p>
            <a:r>
              <a:rPr lang="en-US" dirty="0"/>
              <a:t>I appreciate the opportunity to present this project.</a:t>
            </a:r>
            <a:br>
              <a:rPr lang="en-US" dirty="0"/>
            </a:br>
            <a:r>
              <a:rPr lang="en-US" dirty="0"/>
              <a:t>If there are any questions or suggestions, I would be happy to answer them.</a:t>
            </a:r>
          </a:p>
          <a:p>
            <a:r>
              <a:rPr lang="en-US" b="1" dirty="0"/>
              <a:t>Thank You</a:t>
            </a:r>
          </a:p>
          <a:p>
            <a:br>
              <a:rPr lang="en-US" dirty="0"/>
            </a:br>
            <a:r>
              <a:rPr lang="en-US" sz="5400" b="1" dirty="0"/>
              <a:t>Any Questions?</a:t>
            </a:r>
            <a:endParaRPr lang="en-US" sz="5400" dirty="0"/>
          </a:p>
          <a:p>
            <a:endParaRPr lang="en-IN" dirty="0"/>
          </a:p>
        </p:txBody>
      </p:sp>
    </p:spTree>
    <p:extLst>
      <p:ext uri="{BB962C8B-B14F-4D97-AF65-F5344CB8AC3E}">
        <p14:creationId xmlns:p14="http://schemas.microsoft.com/office/powerpoint/2010/main" val="396363447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docProps/app.xml><?xml version="1.0" encoding="utf-8"?>
<Properties xmlns="http://schemas.openxmlformats.org/officeDocument/2006/extended-properties" xmlns:vt="http://schemas.openxmlformats.org/officeDocument/2006/docPropsVTypes">
  <Template>Retrospect</Template>
  <TotalTime>181</TotalTime>
  <Words>1257</Words>
  <Application>Microsoft Office PowerPoint</Application>
  <PresentationFormat>Widescreen</PresentationFormat>
  <Paragraphs>41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ADLaM Display</vt:lpstr>
      <vt:lpstr>Calibri</vt:lpstr>
      <vt:lpstr>Calibri Light</vt:lpstr>
      <vt:lpstr>Retrospect</vt:lpstr>
      <vt:lpstr>Food Trends Understanding Customer Preferences in FB</vt:lpstr>
      <vt:lpstr>Introduction</vt:lpstr>
      <vt:lpstr>Dashboard</vt:lpstr>
      <vt:lpstr>Project Objectives</vt:lpstr>
      <vt:lpstr>Dataset Overview The dataset used in this project contains structured restaurant sales and customer feedback data. It includes important fields such as Order ID, Product Name, Quantity Sold, Unit Price, Revenue, Rating, Sentiment, Order Type, and Order Date. This data helps analyze product performance, customer satisfaction, and revenue trends. The structured format allows efficient data modeling, KPI calculation, and visualization in Power BI. By organizing and cleaning this dataset, meaningful business insights can be generated to support decision-making and performance improvement. </vt:lpstr>
      <vt:lpstr>Food Trends: Understanding Customer Preferences</vt:lpstr>
      <vt:lpstr>Food Trend Insights: Revenue Analysis</vt:lpstr>
      <vt:lpstr>KPI Analysis</vt:lpstr>
      <vt:lpstr>Sentiment Insights</vt:lpstr>
      <vt:lpstr>Restaurant Product Insight Dashboard</vt:lpstr>
      <vt:lpstr>Revenue Analysis</vt:lpstr>
      <vt:lpstr>Interactive Slicer</vt:lpstr>
      <vt:lpstr>Conclusion</vt:lpstr>
      <vt:lpstr>Thank You &amp;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kumar sharma</dc:creator>
  <cp:lastModifiedBy>Krishna kumar sharma</cp:lastModifiedBy>
  <cp:revision>3</cp:revision>
  <dcterms:created xsi:type="dcterms:W3CDTF">2026-03-02T14:00:49Z</dcterms:created>
  <dcterms:modified xsi:type="dcterms:W3CDTF">2026-03-05T14:26:25Z</dcterms:modified>
</cp:coreProperties>
</file>